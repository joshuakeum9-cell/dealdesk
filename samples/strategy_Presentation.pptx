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spPr>
            <a:solidFill>
              <a:srgbClr val="1F4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40485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FY21A</c:v>
                  </c:pt>
                  <c:pt idx="1">
                    <c:v>FY22A</c:v>
                  </c:pt>
                  <c:pt idx="2">
                    <c:v>FY23A</c:v>
                  </c:pt>
                  <c:pt idx="3">
                    <c:v>FY24A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142</c:v>
                </c:pt>
                <c:pt idx="1">
                  <c:v>154</c:v>
                </c:pt>
                <c:pt idx="2">
                  <c:v>168</c:v>
                </c:pt>
                <c:pt idx="3">
                  <c:v>183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40485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3666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EBITDA margin</c:v>
                </c:pt>
              </c:strCache>
            </c:strRef>
          </c:tx>
          <c:spPr>
            <a:solidFill>
              <a:srgbClr val="00A0B0"/>
            </a:solidFill>
            <a:ln w="25400" cap="flat">
              <a:solidFill>
                <a:srgbClr val="00A0B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404850"/>
                    </a:solidFill>
                    <a:latin typeface="Arial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A0B0"/>
              </a:solidFill>
              <a:ln w="9525" cap="flat">
                <a:solidFill>
                  <a:srgbClr val="00A0B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Sheet1!$A$2:$A$5</c:f>
              <c:multiLvlStrCache>
                <c:ptCount val="4"/>
                <c:lvl>
                  <c:pt idx="0">
                    <c:v>FY21A</c:v>
                  </c:pt>
                  <c:pt idx="1">
                    <c:v>FY22A</c:v>
                  </c:pt>
                  <c:pt idx="2">
                    <c:v>FY23A</c:v>
                  </c:pt>
                  <c:pt idx="3">
                    <c:v>FY24A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15</c:v>
                </c:pt>
                <c:pt idx="1">
                  <c:v>16.1</c:v>
                </c:pt>
                <c:pt idx="2">
                  <c:v>17.3</c:v>
                </c:pt>
                <c:pt idx="3">
                  <c:v>18.7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404850"/>
                  </a:solidFill>
                  <a:latin typeface="Arial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3666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6620256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6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 MERIDIAN | Private and confidential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601968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3666A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601968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3666A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chart" Target="/ppt/charts/chart6.xml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1F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82880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1F4C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 MERIDIAN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2240280"/>
            <a:ext cx="109728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Strategic options assessment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548640" y="37490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B8C2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Meridian Components Inc. | Acquisition | July 2026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48640" y="630936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7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Private and confidential. Draft for discussion purposes only. Prepared on illustrative sample financials.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164592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F4C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509760" y="164592"/>
            <a:ext cx="2286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6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DRAFT | FOR DISCUSSION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11480" y="457200"/>
            <a:ext cx="11365992" cy="8229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900" dirty="0">
                <a:solidFill>
                  <a:srgbClr val="0A1F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Meridian Components Inc. presents 3 growth moves and 3 portfolio moves; value based pricing reset offers the highest confidence value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411480" y="5870448"/>
            <a:ext cx="11365992" cy="475488"/>
          </a:xfrm>
          <a:prstGeom prst="rect">
            <a:avLst/>
          </a:prstGeom>
          <a:solidFill>
            <a:srgbClr val="F2F5F7"/>
          </a:solidFill>
          <a:ln/>
        </p:spPr>
      </p:sp>
      <p:sp>
        <p:nvSpPr>
          <p:cNvPr id="6" name="Shape 4"/>
          <p:cNvSpPr/>
          <p:nvPr/>
        </p:nvSpPr>
        <p:spPr>
          <a:xfrm>
            <a:off x="411480" y="5870448"/>
            <a:ext cx="54864" cy="475488"/>
          </a:xfrm>
          <a:prstGeom prst="rect">
            <a:avLst/>
          </a:prstGeom>
          <a:solidFill>
            <a:srgbClr val="1F4CFF"/>
          </a:solidFill>
          <a:ln/>
        </p:spPr>
      </p:sp>
      <p:sp>
        <p:nvSpPr>
          <p:cNvPr id="7" name="Text 5"/>
          <p:cNvSpPr/>
          <p:nvPr/>
        </p:nvSpPr>
        <p:spPr>
          <a:xfrm>
            <a:off x="576072" y="5870448"/>
            <a:ext cx="11091672" cy="47548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0A1F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next two slides expand each category in the order shown here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411480" y="6419088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36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Illustrative sample financials; DealDesk analysis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411480" y="1298448"/>
            <a:ext cx="5623560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404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client has commissioned a strategic review of Meridian Components Inc. covering competitive position, growth options, and portfolio choices, with a focus on expand into the Midwest market with meaningful procurement synergies.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11480" y="2286000"/>
            <a:ext cx="5623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1F4C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GROWTH MOVES (SLIDE 2)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11480" y="2578608"/>
            <a:ext cx="5623560" cy="13258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2100"/>
              </a:lnSpc>
              <a:buNone/>
            </a:pPr>
            <a:r>
              <a:rPr lang="en-US" sz="1200" dirty="0">
                <a:solidFill>
                  <a:srgbClr val="0A1F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Value based pricing reset</a:t>
            </a:r>
            <a:endParaRPr lang="en-US" sz="120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200" dirty="0">
                <a:solidFill>
                  <a:srgbClr val="0A1F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Adjacent segment entry</a:t>
            </a:r>
            <a:endParaRPr lang="en-US" sz="120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200" dirty="0">
                <a:solidFill>
                  <a:srgbClr val="0A1F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Mix shift toward higher margin volume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11480" y="4023360"/>
            <a:ext cx="5623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1F4C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PORTFOLIO MOVES (SLIDE 3)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11480" y="4315968"/>
            <a:ext cx="5623560" cy="13258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2100"/>
              </a:lnSpc>
              <a:buNone/>
            </a:pPr>
            <a:r>
              <a:rPr lang="en-US" sz="1200" dirty="0">
                <a:solidFill>
                  <a:srgbClr val="0A1F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Core focus and simplification</a:t>
            </a:r>
            <a:endParaRPr lang="en-US" sz="120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200" dirty="0">
                <a:solidFill>
                  <a:srgbClr val="0A1F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Partnership or alliance</a:t>
            </a:r>
            <a:endParaRPr lang="en-US" sz="120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200" dirty="0">
                <a:solidFill>
                  <a:srgbClr val="0A1F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 Divest noncore assets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263640" y="1298448"/>
            <a:ext cx="551383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636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REVENUE, $M</a:t>
            </a:r>
            <a:endParaRPr lang="en-US" sz="1000" dirty="0"/>
          </a:p>
        </p:txBody>
      </p:sp>
      <p:graphicFrame>
        <p:nvGraphicFramePr>
          <p:cNvPr id="15" name="Chart 0" descr=""/>
          <p:cNvGraphicFramePr/>
          <p:nvPr/>
        </p:nvGraphicFramePr>
        <p:xfrm>
          <a:off x="6263640" y="1554480"/>
          <a:ext cx="5513832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6" name="Text 13"/>
          <p:cNvSpPr/>
          <p:nvPr/>
        </p:nvSpPr>
        <p:spPr>
          <a:xfrm>
            <a:off x="6263640" y="3675888"/>
            <a:ext cx="551383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636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EBITDA MARGIN, %</a:t>
            </a:r>
            <a:endParaRPr lang="en-US" sz="1000" dirty="0"/>
          </a:p>
        </p:txBody>
      </p:sp>
      <p:graphicFrame>
        <p:nvGraphicFramePr>
          <p:cNvPr id="17" name="Chart 1" descr=""/>
          <p:cNvGraphicFramePr/>
          <p:nvPr/>
        </p:nvGraphicFramePr>
        <p:xfrm>
          <a:off x="6263640" y="3931920"/>
          <a:ext cx="5513832" cy="1783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601968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3666A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164592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F4C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GROWTH MOVES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509760" y="164592"/>
            <a:ext cx="2286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6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DRAFT | FOR DISCUSSION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11480" y="457200"/>
            <a:ext cx="11365992" cy="8229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900" dirty="0">
                <a:solidFill>
                  <a:srgbClr val="0A1F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Growth moves center on the highest scoring levers for this situation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411480" y="5870448"/>
            <a:ext cx="11365992" cy="475488"/>
          </a:xfrm>
          <a:prstGeom prst="rect">
            <a:avLst/>
          </a:prstGeom>
          <a:solidFill>
            <a:srgbClr val="F2F5F7"/>
          </a:solidFill>
          <a:ln/>
        </p:spPr>
      </p:sp>
      <p:sp>
        <p:nvSpPr>
          <p:cNvPr id="6" name="Shape 4"/>
          <p:cNvSpPr/>
          <p:nvPr/>
        </p:nvSpPr>
        <p:spPr>
          <a:xfrm>
            <a:off x="411480" y="5870448"/>
            <a:ext cx="54864" cy="475488"/>
          </a:xfrm>
          <a:prstGeom prst="rect">
            <a:avLst/>
          </a:prstGeom>
          <a:solidFill>
            <a:srgbClr val="1F4CFF"/>
          </a:solidFill>
          <a:ln/>
        </p:spPr>
      </p:sp>
      <p:sp>
        <p:nvSpPr>
          <p:cNvPr id="7" name="Text 5"/>
          <p:cNvSpPr/>
          <p:nvPr/>
        </p:nvSpPr>
        <p:spPr>
          <a:xfrm>
            <a:off x="576072" y="5870448"/>
            <a:ext cx="11091672" cy="47548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0A1F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Stage growth investments behind evidence; sequence the highest confidence lever first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411480" y="6419088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36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Illustrative sample financials; DealDesk analysis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411480" y="1408176"/>
            <a:ext cx="384048" cy="384048"/>
          </a:xfrm>
          <a:prstGeom prst="ellipse">
            <a:avLst/>
          </a:prstGeom>
          <a:solidFill>
            <a:srgbClr val="00A0B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960120" y="1371600"/>
            <a:ext cx="10698480" cy="3840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0A1F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Value based pricing reset</a:t>
            </a:r>
            <a:pPr indent="0" marL="0">
              <a:buNone/>
            </a:pPr>
            <a:r>
              <a:rPr lang="en-US" sz="1050" dirty="0">
                <a:solidFill>
                  <a:srgbClr val="636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Impact: High  |  Ease: High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960120" y="1773936"/>
            <a:ext cx="10698480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404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Pricing is the fastest profit lever; segments with demonstrated willingness to pay are underpriced today.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411480" y="2825496"/>
            <a:ext cx="384048" cy="384048"/>
          </a:xfrm>
          <a:prstGeom prst="ellipse">
            <a:avLst/>
          </a:prstGeom>
          <a:solidFill>
            <a:srgbClr val="00A0B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960120" y="2788920"/>
            <a:ext cx="10698480" cy="3840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0A1F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Adjacent segment entry</a:t>
            </a:r>
            <a:pPr indent="0" marL="0">
              <a:buNone/>
            </a:pPr>
            <a:r>
              <a:rPr lang="en-US" sz="1050" dirty="0">
                <a:solidFill>
                  <a:srgbClr val="636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Impact: High  |  Ease: Medium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960120" y="3191256"/>
            <a:ext cx="10698480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404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core capability set transfers to a neighboring customer segment with limited incremental investment.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411480" y="4242816"/>
            <a:ext cx="384048" cy="384048"/>
          </a:xfrm>
          <a:prstGeom prst="ellipse">
            <a:avLst/>
          </a:prstGeom>
          <a:solidFill>
            <a:srgbClr val="00A0B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960120" y="4206240"/>
            <a:ext cx="10698480" cy="3840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0A1F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Mix shift toward higher margin volume</a:t>
            </a:r>
            <a:pPr indent="0" marL="0">
              <a:buNone/>
            </a:pPr>
            <a:r>
              <a:rPr lang="en-US" sz="1050" dirty="0">
                <a:solidFill>
                  <a:srgbClr val="636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Impact: High  |  Ease: Medium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960120" y="4608576"/>
            <a:ext cx="10698480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404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Replacing low margin volume with higher value business raises profitability without raising cost.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601968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3666A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164592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F4C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PORTFOLIO MOVES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509760" y="164592"/>
            <a:ext cx="2286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6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DRAFT | FOR DISCUSSION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11480" y="457200"/>
            <a:ext cx="11365992" cy="8229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900" dirty="0">
                <a:solidFill>
                  <a:srgbClr val="0A1F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Portfolio moves reallocate capital from legacy positions to where it earns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411480" y="5870448"/>
            <a:ext cx="11365992" cy="475488"/>
          </a:xfrm>
          <a:prstGeom prst="rect">
            <a:avLst/>
          </a:prstGeom>
          <a:solidFill>
            <a:srgbClr val="F2F5F7"/>
          </a:solidFill>
          <a:ln/>
        </p:spPr>
      </p:sp>
      <p:sp>
        <p:nvSpPr>
          <p:cNvPr id="6" name="Shape 4"/>
          <p:cNvSpPr/>
          <p:nvPr/>
        </p:nvSpPr>
        <p:spPr>
          <a:xfrm>
            <a:off x="411480" y="5870448"/>
            <a:ext cx="54864" cy="475488"/>
          </a:xfrm>
          <a:prstGeom prst="rect">
            <a:avLst/>
          </a:prstGeom>
          <a:solidFill>
            <a:srgbClr val="1F4CFF"/>
          </a:solidFill>
          <a:ln/>
        </p:spPr>
      </p:sp>
      <p:sp>
        <p:nvSpPr>
          <p:cNvPr id="7" name="Text 5"/>
          <p:cNvSpPr/>
          <p:nvPr/>
        </p:nvSpPr>
        <p:spPr>
          <a:xfrm>
            <a:off x="576072" y="5870448"/>
            <a:ext cx="11091672" cy="47548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0A1F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Fund the agenda by pruning what no longer earns its capital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411480" y="6419088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36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Illustrative sample financials; DealDesk analysis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411480" y="1408176"/>
            <a:ext cx="384048" cy="384048"/>
          </a:xfrm>
          <a:prstGeom prst="ellipse">
            <a:avLst/>
          </a:prstGeom>
          <a:solidFill>
            <a:srgbClr val="1F4CF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960120" y="1371600"/>
            <a:ext cx="10698480" cy="3840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0A1F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Core focus and simplification</a:t>
            </a:r>
            <a:pPr indent="0" marL="0">
              <a:buNone/>
            </a:pPr>
            <a:r>
              <a:rPr lang="en-US" sz="1050" dirty="0">
                <a:solidFill>
                  <a:srgbClr val="636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Impact: Medium  |  Ease: Medium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960120" y="1773936"/>
            <a:ext cx="10698480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404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Complexity in the tail of the portfolio absorbs management attention disproportionate to its profit.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411480" y="2825496"/>
            <a:ext cx="384048" cy="384048"/>
          </a:xfrm>
          <a:prstGeom prst="ellipse">
            <a:avLst/>
          </a:prstGeom>
          <a:solidFill>
            <a:srgbClr val="1F4CF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960120" y="2788920"/>
            <a:ext cx="10698480" cy="3840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0A1F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Partnership or alliance</a:t>
            </a:r>
            <a:pPr indent="0" marL="0">
              <a:buNone/>
            </a:pPr>
            <a:r>
              <a:rPr lang="en-US" sz="1050" dirty="0">
                <a:solidFill>
                  <a:srgbClr val="636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Impact: Medium  |  Ease: Medium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960120" y="3191256"/>
            <a:ext cx="10698480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404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partner supplies the missing capability faster than building it internally.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411480" y="4242816"/>
            <a:ext cx="384048" cy="384048"/>
          </a:xfrm>
          <a:prstGeom prst="ellipse">
            <a:avLst/>
          </a:prstGeom>
          <a:solidFill>
            <a:srgbClr val="1F4CF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960120" y="4206240"/>
            <a:ext cx="10698480" cy="3840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0A1F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Divest noncore assets</a:t>
            </a:r>
            <a:pPr indent="0" marL="0">
              <a:buNone/>
            </a:pPr>
            <a:r>
              <a:rPr lang="en-US" sz="1050" dirty="0">
                <a:solidFill>
                  <a:srgbClr val="636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Impact: High  |  Ease: Low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960120" y="4608576"/>
            <a:ext cx="10698480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404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Legacy positions may be worth more to another owner; proceeds fund the growth agenda.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601968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3666A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164592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F4C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APPENDIX: PRIORITIZATION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509760" y="164592"/>
            <a:ext cx="2286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6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DRAFT | FOR DISCUSSION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11480" y="457200"/>
            <a:ext cx="11365992" cy="8229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900" dirty="0">
                <a:solidFill>
                  <a:srgbClr val="0A1F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Pursue the top 3 opportunities first; hold the remainder for the roadmap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411480" y="6419088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36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Illustrative sample financials; DealDesk analysis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1005840" y="1417320"/>
            <a:ext cx="6400800" cy="4114800"/>
          </a:xfrm>
          <a:prstGeom prst="rect">
            <a:avLst/>
          </a:prstGeom>
          <a:solidFill>
            <a:srgbClr val="FAFBFC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206240" y="1417320"/>
            <a:ext cx="3200400" cy="2057400"/>
          </a:xfrm>
          <a:prstGeom prst="rect">
            <a:avLst/>
          </a:prstGeom>
          <a:solidFill>
            <a:srgbClr val="E8EDFF"/>
          </a:solidFill>
          <a:ln/>
        </p:spPr>
      </p:sp>
      <p:sp>
        <p:nvSpPr>
          <p:cNvPr id="8" name="Shape 6"/>
          <p:cNvSpPr/>
          <p:nvPr/>
        </p:nvSpPr>
        <p:spPr>
          <a:xfrm>
            <a:off x="4206240" y="1417320"/>
            <a:ext cx="0" cy="4114800"/>
          </a:xfrm>
          <a:prstGeom prst="line">
            <a:avLst/>
          </a:prstGeom>
          <a:noFill/>
          <a:ln w="12700">
            <a:solidFill>
              <a:srgbClr val="D9D9D9"/>
            </a:solidFill>
            <a:prstDash val="dash"/>
          </a:ln>
        </p:spPr>
      </p:sp>
      <p:sp>
        <p:nvSpPr>
          <p:cNvPr id="9" name="Shape 7"/>
          <p:cNvSpPr/>
          <p:nvPr/>
        </p:nvSpPr>
        <p:spPr>
          <a:xfrm>
            <a:off x="1005840" y="3474720"/>
            <a:ext cx="6400800" cy="0"/>
          </a:xfrm>
          <a:prstGeom prst="line">
            <a:avLst/>
          </a:prstGeom>
          <a:noFill/>
          <a:ln w="12700">
            <a:solidFill>
              <a:srgbClr val="D9D9D9"/>
            </a:solidFill>
            <a:prstDash val="dash"/>
          </a:ln>
        </p:spPr>
      </p:sp>
      <p:sp>
        <p:nvSpPr>
          <p:cNvPr id="10" name="Text 8"/>
          <p:cNvSpPr/>
          <p:nvPr/>
        </p:nvSpPr>
        <p:spPr>
          <a:xfrm>
            <a:off x="4206240" y="146304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F4C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 first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 rot="16200000">
            <a:off x="137160" y="329184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36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Value impact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005840" y="562356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36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Ease of capture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934456" y="2048256"/>
            <a:ext cx="384048" cy="384048"/>
          </a:xfrm>
          <a:prstGeom prst="ellipse">
            <a:avLst/>
          </a:prstGeom>
          <a:solidFill>
            <a:srgbClr val="00A0B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014216" y="2048256"/>
            <a:ext cx="384048" cy="384048"/>
          </a:xfrm>
          <a:prstGeom prst="ellipse">
            <a:avLst/>
          </a:prstGeom>
          <a:solidFill>
            <a:srgbClr val="00A0B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17136" y="2048256"/>
            <a:ext cx="384048" cy="384048"/>
          </a:xfrm>
          <a:prstGeom prst="ellipse">
            <a:avLst/>
          </a:prstGeom>
          <a:solidFill>
            <a:srgbClr val="00A0B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014216" y="3282696"/>
            <a:ext cx="384048" cy="384048"/>
          </a:xfrm>
          <a:prstGeom prst="ellipse">
            <a:avLst/>
          </a:prstGeom>
          <a:solidFill>
            <a:srgbClr val="1F4CF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517136" y="3282696"/>
            <a:ext cx="384048" cy="384048"/>
          </a:xfrm>
          <a:prstGeom prst="ellipse">
            <a:avLst/>
          </a:prstGeom>
          <a:solidFill>
            <a:srgbClr val="1F4CF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2093976" y="2048256"/>
            <a:ext cx="384048" cy="384048"/>
          </a:xfrm>
          <a:prstGeom prst="ellipse">
            <a:avLst/>
          </a:prstGeom>
          <a:solidFill>
            <a:srgbClr val="1F4CF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7818120" y="1417320"/>
            <a:ext cx="3931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A1F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Opportunities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7818120" y="1737360"/>
            <a:ext cx="3931920" cy="38404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2000"/>
              </a:lnSpc>
              <a:buNone/>
            </a:pPr>
            <a:r>
              <a:rPr lang="en-US" sz="1100" dirty="0">
                <a:solidFill>
                  <a:srgbClr val="404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Value based pricing reset</a:t>
            </a:r>
            <a:endParaRPr lang="en-US" sz="11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100" dirty="0">
                <a:solidFill>
                  <a:srgbClr val="404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Adjacent segment entry</a:t>
            </a:r>
            <a:endParaRPr lang="en-US" sz="11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100" dirty="0">
                <a:solidFill>
                  <a:srgbClr val="404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Mix shift toward higher margin volume</a:t>
            </a:r>
            <a:endParaRPr lang="en-US" sz="11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100" dirty="0">
                <a:solidFill>
                  <a:srgbClr val="404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Core focus and simplification</a:t>
            </a:r>
            <a:endParaRPr lang="en-US" sz="11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100" dirty="0">
                <a:solidFill>
                  <a:srgbClr val="404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Partnership or alliance</a:t>
            </a:r>
            <a:endParaRPr lang="en-US" sz="11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100" dirty="0">
                <a:solidFill>
                  <a:srgbClr val="404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 Divest noncore assets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7818120" y="521208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A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</a:t>
            </a:r>
            <a:pPr indent="0" marL="0">
              <a:buNone/>
            </a:pPr>
            <a:r>
              <a:rPr lang="en-US" sz="1000" dirty="0">
                <a:solidFill>
                  <a:srgbClr val="636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Growth moves   </a:t>
            </a:r>
            <a:pPr indent="0" marL="0">
              <a:buNone/>
            </a:pPr>
            <a:r>
              <a:rPr lang="en-US" sz="1000" dirty="0">
                <a:solidFill>
                  <a:srgbClr val="1F4C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</a:t>
            </a:r>
            <a:pPr indent="0" marL="0">
              <a:buNone/>
            </a:pPr>
            <a:r>
              <a:rPr lang="en-US" sz="1000" dirty="0">
                <a:solidFill>
                  <a:srgbClr val="636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Portfolio moves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601968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3666A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2026-07-23T05:00:33Z</dcterms:created>
  <dcterms:modified xsi:type="dcterms:W3CDTF">2026-07-23T05:00:33Z</dcterms:modified>
</cp:coreProperties>
</file>