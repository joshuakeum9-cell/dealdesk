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1F4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40485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FY21A</c:v>
                  </c:pt>
                  <c:pt idx="1">
                    <c:v>FY22A</c:v>
                  </c:pt>
                  <c:pt idx="2">
                    <c:v>FY23A</c:v>
                  </c:pt>
                  <c:pt idx="3">
                    <c:v>FY24A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142</c:v>
                </c:pt>
                <c:pt idx="1">
                  <c:v>154</c:v>
                </c:pt>
                <c:pt idx="2">
                  <c:v>168</c:v>
                </c:pt>
                <c:pt idx="3">
                  <c:v>183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40485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366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EBITDA margin</c:v>
                </c:pt>
              </c:strCache>
            </c:strRef>
          </c:tx>
          <c:spPr>
            <a:solidFill>
              <a:srgbClr val="00A0B0"/>
            </a:solidFill>
            <a:ln w="25400" cap="flat">
              <a:solidFill>
                <a:srgbClr val="00A0B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404850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A0B0"/>
              </a:solidFill>
              <a:ln w="9525" cap="flat">
                <a:solidFill>
                  <a:srgbClr val="00A0B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FY21A</c:v>
                  </c:pt>
                  <c:pt idx="1">
                    <c:v>FY22A</c:v>
                  </c:pt>
                  <c:pt idx="2">
                    <c:v>FY23A</c:v>
                  </c:pt>
                  <c:pt idx="3">
                    <c:v>FY24A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</c:v>
                </c:pt>
                <c:pt idx="1">
                  <c:v>16.1</c:v>
                </c:pt>
                <c:pt idx="2">
                  <c:v>17.3</c:v>
                </c:pt>
                <c:pt idx="3">
                  <c:v>18.7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404850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366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6620256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MERIDIAN | Private and confidential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chart" Target="/ppt/charts/chart6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F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MERIDIAN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224028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Strategic options assessment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3749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8C2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Meridian Components Inc. | Acquisition | July 2026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30936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7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and confidential. Draft for discussion purposes only. Prepared on illustrative sample financials.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8735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Meridian Components Inc. presents 3 growth moves and 3 portfolio moves; value based pricing reset offers the highest confidence value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11480" y="5870448"/>
            <a:ext cx="11368735" cy="475488"/>
          </a:xfrm>
          <a:prstGeom prst="rect">
            <a:avLst/>
          </a:prstGeom>
          <a:solidFill>
            <a:srgbClr val="F2F5F7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5870448"/>
            <a:ext cx="54864" cy="475488"/>
          </a:xfrm>
          <a:prstGeom prst="rect">
            <a:avLst/>
          </a:prstGeom>
          <a:solidFill>
            <a:srgbClr val="1F4CFF"/>
          </a:solidFill>
          <a:ln/>
        </p:spPr>
      </p:sp>
      <p:sp>
        <p:nvSpPr>
          <p:cNvPr id="7" name="Text 5"/>
          <p:cNvSpPr/>
          <p:nvPr/>
        </p:nvSpPr>
        <p:spPr>
          <a:xfrm>
            <a:off x="576072" y="5870448"/>
            <a:ext cx="11094415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next two slides expand each category in the order shown here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1298448"/>
            <a:ext cx="562356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client has commissioned a strategic review of Meridian Components Inc. covering competitive position, growth options, and portfolio choices, with a focus on expand into the Midwest market with meaningful procurement synergies.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11480" y="2286000"/>
            <a:ext cx="5623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GROWTH MOVES (SLIDE 2)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11480" y="2578608"/>
            <a:ext cx="5623560" cy="13258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Value based pricing reset</a:t>
            </a:r>
            <a:endParaRPr lang="en-US" sz="1200" dirty="0"/>
          </a:p>
          <a:p>
            <a:pPr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Adjacent segment entry</a:t>
            </a:r>
            <a:endParaRPr lang="en-US" sz="1200" dirty="0"/>
          </a:p>
          <a:p>
            <a:pPr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Mix shift toward higher margin volume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11480" y="4023360"/>
            <a:ext cx="5623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PORTFOLIO MOVES (SLIDE 3)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11480" y="4315968"/>
            <a:ext cx="5623560" cy="13258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Core focus and simplification</a:t>
            </a:r>
            <a:endParaRPr lang="en-US" sz="1200" dirty="0"/>
          </a:p>
          <a:p>
            <a:pPr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Partnership or alliance</a:t>
            </a:r>
            <a:endParaRPr lang="en-US" sz="1200" dirty="0"/>
          </a:p>
          <a:p>
            <a:pPr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Divest noncore assets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263640" y="1298448"/>
            <a:ext cx="551657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REVENUE, $M</a:t>
            </a:r>
            <a:endParaRPr lang="en-US" sz="10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6263640" y="1554480"/>
          <a:ext cx="5516575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/>
          <p:nvPr/>
        </p:nvSpPr>
        <p:spPr>
          <a:xfrm>
            <a:off x="6263640" y="3675888"/>
            <a:ext cx="551657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EBITDA MARGIN, %</a:t>
            </a:r>
            <a:endParaRPr lang="en-US" sz="1000" dirty="0"/>
          </a:p>
        </p:txBody>
      </p:sp>
      <p:graphicFrame>
        <p:nvGraphicFramePr>
          <p:cNvPr id="17" name="Chart 1" descr=""/>
          <p:cNvGraphicFramePr/>
          <p:nvPr/>
        </p:nvGraphicFramePr>
        <p:xfrm>
          <a:off x="6263640" y="3931920"/>
          <a:ext cx="5516575" cy="1783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GROWTH MOVES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8735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Growth moves center on the highest scoring levers for this situation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11480" y="5870448"/>
            <a:ext cx="11368735" cy="475488"/>
          </a:xfrm>
          <a:prstGeom prst="rect">
            <a:avLst/>
          </a:prstGeom>
          <a:solidFill>
            <a:srgbClr val="F2F5F7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5870448"/>
            <a:ext cx="54864" cy="475488"/>
          </a:xfrm>
          <a:prstGeom prst="rect">
            <a:avLst/>
          </a:prstGeom>
          <a:solidFill>
            <a:srgbClr val="1F4CFF"/>
          </a:solidFill>
          <a:ln/>
        </p:spPr>
      </p:sp>
      <p:sp>
        <p:nvSpPr>
          <p:cNvPr id="7" name="Text 5"/>
          <p:cNvSpPr/>
          <p:nvPr/>
        </p:nvSpPr>
        <p:spPr>
          <a:xfrm>
            <a:off x="576072" y="5870448"/>
            <a:ext cx="11094415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growth investments behind evidence; sequence the highest confidence lever first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140817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0120" y="137160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based pricing reset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High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60120" y="177393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Pricing is the fastest profit lever; segments with demonstrated willingness to pay are underpriced today.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11480" y="282549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0120" y="278892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Adjacent segment entry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Medium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60120" y="319125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core capability set transfers to a neighboring customer segment with limited incremental investment.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11480" y="424281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60120" y="420624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Mix shift toward higher margin volume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Medium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60120" y="460857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Replacing low margin volume with higher value business raises profitability without raising cost.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PORTFOLIO MOVES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8735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Portfolio moves reallocate capital from legacy positions to where it earns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11480" y="5870448"/>
            <a:ext cx="11368735" cy="475488"/>
          </a:xfrm>
          <a:prstGeom prst="rect">
            <a:avLst/>
          </a:prstGeom>
          <a:solidFill>
            <a:srgbClr val="F2F5F7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5870448"/>
            <a:ext cx="54864" cy="475488"/>
          </a:xfrm>
          <a:prstGeom prst="rect">
            <a:avLst/>
          </a:prstGeom>
          <a:solidFill>
            <a:srgbClr val="1F4CFF"/>
          </a:solidFill>
          <a:ln/>
        </p:spPr>
      </p:sp>
      <p:sp>
        <p:nvSpPr>
          <p:cNvPr id="7" name="Text 5"/>
          <p:cNvSpPr/>
          <p:nvPr/>
        </p:nvSpPr>
        <p:spPr>
          <a:xfrm>
            <a:off x="576072" y="5870448"/>
            <a:ext cx="11094415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 the agenda by pruning what no longer earns its capital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140817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0120" y="137160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focus and simplification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Medium  |  Ease: Medium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60120" y="177393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Complexity in the tail of the portfolio absorbs management attention disproportionate to its profit.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11480" y="282549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0120" y="278892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Partnership or alliance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Medium  |  Ease: Medium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60120" y="319125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partner supplies the missing capability faster than building it internally.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11480" y="424281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60120" y="420624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Divest noncore assets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Low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60120" y="460857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Legacy positions may be worth more to another owner; proceeds fund the growth agenda.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APPENDIX: PRIORITIZATION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8735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Pursue the top 3 opportunities first; hold the remainder for the roadmap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005840" y="1417320"/>
            <a:ext cx="6400800" cy="4114800"/>
          </a:xfrm>
          <a:prstGeom prst="rect">
            <a:avLst/>
          </a:prstGeom>
          <a:solidFill>
            <a:srgbClr val="FAFBFC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206240" y="1417320"/>
            <a:ext cx="3200400" cy="2057400"/>
          </a:xfrm>
          <a:prstGeom prst="rect">
            <a:avLst/>
          </a:prstGeom>
          <a:solidFill>
            <a:srgbClr val="E8EDFF"/>
          </a:solidFill>
          <a:ln/>
        </p:spPr>
      </p:sp>
      <p:sp>
        <p:nvSpPr>
          <p:cNvPr id="8" name="Shape 6"/>
          <p:cNvSpPr/>
          <p:nvPr/>
        </p:nvSpPr>
        <p:spPr>
          <a:xfrm>
            <a:off x="4206240" y="1417320"/>
            <a:ext cx="0" cy="4114800"/>
          </a:xfrm>
          <a:prstGeom prst="line">
            <a:avLst/>
          </a:prstGeom>
          <a:noFill/>
          <a:ln w="12700">
            <a:solidFill>
              <a:srgbClr val="D9D9D9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1005840" y="3474720"/>
            <a:ext cx="64008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4206240" y="14630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first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 rot="16200000">
            <a:off x="137160" y="32918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impact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005840" y="562356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Ease of capture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934456" y="204825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014216" y="204825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17136" y="204825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014216" y="328269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17136" y="328269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093976" y="204825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818120" y="141732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Opportunities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818120" y="1737360"/>
            <a:ext cx="3931920" cy="38404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98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Value based pricing reset</a:t>
            </a:r>
            <a:endParaRPr lang="en-US" sz="1100" dirty="0"/>
          </a:p>
          <a:p>
            <a:pPr indent="0" marL="0">
              <a:lnSpc>
                <a:spcPts val="198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Adjacent segment entry</a:t>
            </a:r>
            <a:endParaRPr lang="en-US" sz="1100" dirty="0"/>
          </a:p>
          <a:p>
            <a:pPr indent="0" marL="0">
              <a:lnSpc>
                <a:spcPts val="198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Mix shift toward higher margin volume</a:t>
            </a:r>
            <a:endParaRPr lang="en-US" sz="1100" dirty="0"/>
          </a:p>
          <a:p>
            <a:pPr indent="0" marL="0">
              <a:lnSpc>
                <a:spcPts val="198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Core focus and simplification</a:t>
            </a:r>
            <a:endParaRPr lang="en-US" sz="1100" dirty="0"/>
          </a:p>
          <a:p>
            <a:pPr indent="0" marL="0">
              <a:lnSpc>
                <a:spcPts val="198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Partnership or alliance</a:t>
            </a:r>
            <a:endParaRPr lang="en-US" sz="1100" dirty="0"/>
          </a:p>
          <a:p>
            <a:pPr indent="0" marL="0">
              <a:lnSpc>
                <a:spcPts val="198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Divest noncore assets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818120" y="52120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indent="0" marL="0">
              <a:buNone/>
            </a:pPr>
            <a:r>
              <a:rPr lang="en-US" sz="10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moves   </a:t>
            </a:r>
            <a:pPr indent="0" marL="0">
              <a:buNone/>
            </a:pPr>
            <a:r>
              <a:rPr lang="en-US" sz="100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indent="0" marL="0">
              <a:buNone/>
            </a:pPr>
            <a:r>
              <a:rPr lang="en-US" sz="10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Portfolio moves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2026-07-25T18:17:12Z</dcterms:created>
  <dcterms:modified xsi:type="dcterms:W3CDTF">2026-07-25T18:17:12Z</dcterms:modified>
</cp:coreProperties>
</file>