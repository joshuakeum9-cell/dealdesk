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4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8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FY21A</c:v>
                  </c:pt>
                  <c:pt idx="1">
                    <c:v>FY22A</c:v>
                  </c:pt>
                  <c:pt idx="2">
                    <c:v>FY23A</c:v>
                  </c:pt>
                  <c:pt idx="3">
                    <c:v>FY24A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142</c:v>
                </c:pt>
                <c:pt idx="1">
                  <c:v>154</c:v>
                </c:pt>
                <c:pt idx="2">
                  <c:v>168</c:v>
                </c:pt>
                <c:pt idx="3">
                  <c:v>183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048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margin</c:v>
                </c:pt>
              </c:strCache>
            </c:strRef>
          </c:tx>
          <c:spPr>
            <a:solidFill>
              <a:srgbClr val="00A0B0"/>
            </a:solidFill>
            <a:ln w="25400" cap="flat">
              <a:solidFill>
                <a:srgbClr val="00A0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85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A0B0"/>
              </a:solidFill>
              <a:ln w="9525" cap="flat">
                <a:solidFill>
                  <a:srgbClr val="00A0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FY21A</c:v>
                  </c:pt>
                  <c:pt idx="1">
                    <c:v>FY22A</c:v>
                  </c:pt>
                  <c:pt idx="2">
                    <c:v>FY23A</c:v>
                  </c:pt>
                  <c:pt idx="3">
                    <c:v>FY24A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16.1</c:v>
                </c:pt>
                <c:pt idx="2">
                  <c:v>17.3</c:v>
                </c:pt>
                <c:pt idx="3">
                  <c:v>18.7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0485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62025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MERIDIAN | Private and confidential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MERIDIAN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2402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synergy assessment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749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 Components Inc. | Acquisition | July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309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and confidential. Draft for discussion purposes only. Prepared on illustrative sample financials.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509760" y="164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| FOR 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11368735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Meridian Components Inc. presents 3 revenue synergies and 3 cost synergies; procurement scale and vendor consolidation offers the highest confidence value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11480" y="5870448"/>
            <a:ext cx="11368735" cy="475488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5870448"/>
            <a:ext cx="54864" cy="475488"/>
          </a:xfrm>
          <a:prstGeom prst="rect">
            <a:avLst/>
          </a:prstGeom>
          <a:solidFill>
            <a:srgbClr val="1F4CFF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5870448"/>
            <a:ext cx="11094415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two slides expand each category in the order shown here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64190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Illustrative sample financials; DealDesk analysis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298448"/>
            <a:ext cx="562356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is evaluating the acquisition of Meridian Components Inc., with a focus on expand into the Midwest market with meaningful procurement synergies.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REVENUE SYNERGIES (SLIDE 2)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578608"/>
            <a:ext cx="5623560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Cross sell into the combined customer base</a:t>
            </a:r>
            <a:endParaRPr lang="en-US" sz="1200" dirty="0"/>
          </a:p>
          <a:p>
            <a:pPr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Pricing harmonization</a:t>
            </a:r>
            <a:endParaRPr lang="en-US" sz="1200" dirty="0"/>
          </a:p>
          <a:p>
            <a:pPr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Key account retention program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02336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COST SYNERGIES (SLIDE 3)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315968"/>
            <a:ext cx="5623560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Procurement scale and vendor consolidation</a:t>
            </a:r>
            <a:endParaRPr lang="en-US" sz="1200" dirty="0"/>
          </a:p>
          <a:p>
            <a:pPr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Margin improvement to peer levels</a:t>
            </a:r>
            <a:endParaRPr lang="en-US" sz="1200" dirty="0"/>
          </a:p>
          <a:p>
            <a:pPr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Overlapping G&amp;A rationalization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1298448"/>
            <a:ext cx="55165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$M</a:t>
            </a:r>
            <a:endParaRPr lang="en-US" sz="10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63640" y="1554480"/>
          <a:ext cx="5516575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6263640" y="3675888"/>
            <a:ext cx="55165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MARGIN, %</a:t>
            </a:r>
            <a:endParaRPr lang="en-US" sz="1000" dirty="0"/>
          </a:p>
        </p:txBody>
      </p:sp>
      <p:graphicFrame>
        <p:nvGraphicFramePr>
          <p:cNvPr id="17" name="Chart 1" descr=""/>
          <p:cNvGraphicFramePr/>
          <p:nvPr/>
        </p:nvGraphicFramePr>
        <p:xfrm>
          <a:off x="6263640" y="3931920"/>
          <a:ext cx="5516575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REVENUE SYNERGIES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509760" y="164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| FOR 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11368735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synergies are ranked by fit with this transaction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11480" y="5870448"/>
            <a:ext cx="11368735" cy="475488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5870448"/>
            <a:ext cx="54864" cy="475488"/>
          </a:xfrm>
          <a:prstGeom prst="rect">
            <a:avLst/>
          </a:prstGeom>
          <a:solidFill>
            <a:srgbClr val="1F4CFF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5870448"/>
            <a:ext cx="11094415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synergies carry more execution risk than cost synergies; treat as upside, not base case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64190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Illustrative sample financials; DealDesk analysis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408176"/>
            <a:ext cx="384048" cy="384048"/>
          </a:xfrm>
          <a:prstGeom prst="ellipse">
            <a:avLst/>
          </a:prstGeom>
          <a:solidFill>
            <a:srgbClr val="00A0B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37160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 sell into the combined customer base</a:t>
            </a:r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Impact: High  |  Ease: Medium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1773936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of each business can be offered the other's adjacent products.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2825496"/>
            <a:ext cx="384048" cy="384048"/>
          </a:xfrm>
          <a:prstGeom prst="ellipse">
            <a:avLst/>
          </a:prstGeom>
          <a:solidFill>
            <a:srgbClr val="00A0B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7889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harmonization</a:t>
            </a:r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Impact: Medium  |  Ease: High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191256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Aligning price levels and discount discipline across the combined book lifts realized price.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" y="4242816"/>
            <a:ext cx="384048" cy="384048"/>
          </a:xfrm>
          <a:prstGeom prst="ellipse">
            <a:avLst/>
          </a:prstGeom>
          <a:solidFill>
            <a:srgbClr val="00A0B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20624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account retention program</a:t>
            </a:r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Impact: High  |  Ease: Medium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4608576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Concentrated revenue makes protecting the largest relationships through close the first revenue priority.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COST SYNERGIES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509760" y="164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| FOR 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11368735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synergies anchor the value case and are within management's control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11480" y="5870448"/>
            <a:ext cx="11368735" cy="475488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5870448"/>
            <a:ext cx="54864" cy="475488"/>
          </a:xfrm>
          <a:prstGeom prst="rect">
            <a:avLst/>
          </a:prstGeom>
          <a:solidFill>
            <a:srgbClr val="1F4CFF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5870448"/>
            <a:ext cx="11094415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synergies should anchor the value case; sequence procurement first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64190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Illustrative sample financials; DealDesk analysis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408176"/>
            <a:ext cx="384048" cy="384048"/>
          </a:xfrm>
          <a:prstGeom prst="ellipse">
            <a:avLst/>
          </a:prstGeom>
          <a:solidFill>
            <a:srgbClr val="1F4C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37160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scale and vendor consolidation</a:t>
            </a:r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Impact: High  |  Ease: High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1773936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purchasing volume supports renegotiated rates with overlapping vendors.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2825496"/>
            <a:ext cx="384048" cy="384048"/>
          </a:xfrm>
          <a:prstGeom prst="ellipse">
            <a:avLst/>
          </a:prstGeom>
          <a:solidFill>
            <a:srgbClr val="1F4C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7889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improvement to peer levels</a:t>
            </a:r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Impact: High  |  Ease: Medium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191256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Profitability trails typical sector levels, an addressable opportunity independent of the deal.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" y="4242816"/>
            <a:ext cx="384048" cy="384048"/>
          </a:xfrm>
          <a:prstGeom prst="ellipse">
            <a:avLst/>
          </a:prstGeom>
          <a:solidFill>
            <a:srgbClr val="1F4C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20624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Overlapping G&amp;A rationalization</a:t>
            </a:r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Impact: Medium  |  Ease: Medium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4608576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Duplicated back office functions can be consolidated over 12 to 24 months.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PRIORITIZATION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509760" y="164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| FOR 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11368735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Pursue the top 3 opportunities first; hold the remainder for the roadmap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64190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Illustrative sample financials; DealDesk analysis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05840" y="1417320"/>
            <a:ext cx="6400800" cy="4114800"/>
          </a:xfrm>
          <a:prstGeom prst="rect">
            <a:avLst/>
          </a:prstGeom>
          <a:solidFill>
            <a:srgbClr val="FAFB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0" y="1417320"/>
            <a:ext cx="3200400" cy="2057400"/>
          </a:xfrm>
          <a:prstGeom prst="rect">
            <a:avLst/>
          </a:prstGeom>
          <a:solidFill>
            <a:srgbClr val="E8EDFF"/>
          </a:solidFill>
          <a:ln/>
        </p:spPr>
      </p:sp>
      <p:sp>
        <p:nvSpPr>
          <p:cNvPr id="8" name="Shape 6"/>
          <p:cNvSpPr/>
          <p:nvPr/>
        </p:nvSpPr>
        <p:spPr>
          <a:xfrm>
            <a:off x="4206240" y="1417320"/>
            <a:ext cx="0" cy="4114800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005840" y="3474720"/>
            <a:ext cx="64008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20624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first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 rot="16200000">
            <a:off x="137160" y="3291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impact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5623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Ease of capture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14216" y="2048256"/>
            <a:ext cx="384048" cy="384048"/>
          </a:xfrm>
          <a:prstGeom prst="ellipse">
            <a:avLst/>
          </a:prstGeom>
          <a:solidFill>
            <a:srgbClr val="00A0B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34456" y="3282696"/>
            <a:ext cx="384048" cy="384048"/>
          </a:xfrm>
          <a:prstGeom prst="ellipse">
            <a:avLst/>
          </a:prstGeom>
          <a:solidFill>
            <a:srgbClr val="00A0B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17136" y="2048256"/>
            <a:ext cx="384048" cy="384048"/>
          </a:xfrm>
          <a:prstGeom prst="ellipse">
            <a:avLst/>
          </a:prstGeom>
          <a:solidFill>
            <a:srgbClr val="00A0B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34456" y="2048256"/>
            <a:ext cx="384048" cy="384048"/>
          </a:xfrm>
          <a:prstGeom prst="ellipse">
            <a:avLst/>
          </a:prstGeom>
          <a:solidFill>
            <a:srgbClr val="1F4C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0056" y="2048256"/>
            <a:ext cx="384048" cy="384048"/>
          </a:xfrm>
          <a:prstGeom prst="ellipse">
            <a:avLst/>
          </a:prstGeom>
          <a:solidFill>
            <a:srgbClr val="1F4C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14216" y="3282696"/>
            <a:ext cx="384048" cy="384048"/>
          </a:xfrm>
          <a:prstGeom prst="ellipse">
            <a:avLst/>
          </a:prstGeom>
          <a:solidFill>
            <a:srgbClr val="1F4C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18120" y="1417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18120" y="1737360"/>
            <a:ext cx="3931920" cy="3840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Cross sell into the combined customer base</a:t>
            </a:r>
            <a:endParaRPr lang="en-US" sz="11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Pricing harmonization</a:t>
            </a:r>
            <a:endParaRPr lang="en-US" sz="11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Key account retention program</a:t>
            </a:r>
            <a:endParaRPr lang="en-US" sz="11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Procurement scale and vendor consolidation</a:t>
            </a:r>
            <a:endParaRPr lang="en-US" sz="11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Margin improvement to peer levels</a:t>
            </a:r>
            <a:endParaRPr lang="en-US" sz="11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Overlapping G&amp;A rationalization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18120" y="5212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synergies   </a:t>
            </a:r>
            <a:pPr indent="0" marL="0">
              <a:buNone/>
            </a:pPr>
            <a:r>
              <a:rPr lang="en-US" sz="100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synergies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2026-07-28T14:38:42Z</dcterms:created>
  <dcterms:modified xsi:type="dcterms:W3CDTF">2026-07-28T14:38:42Z</dcterms:modified>
</cp:coreProperties>
</file>